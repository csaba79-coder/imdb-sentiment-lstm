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3" r:id="rId3"/>
    <p:sldId id="304" r:id="rId4"/>
    <p:sldId id="273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272" r:id="rId19"/>
    <p:sldId id="26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lakshmi25npathi/imdb-dataset-of-50k-movie-reviews" TargetMode="External"/><Relationship Id="rId2" Type="http://schemas.openxmlformats.org/officeDocument/2006/relationships/hyperlink" Target="https://github.com/Csaba79-coder/imdb-sentiment-lst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04462" y="2404534"/>
            <a:ext cx="8939588" cy="1646302"/>
          </a:xfrm>
        </p:spPr>
        <p:txBody>
          <a:bodyPr/>
          <a:lstStyle/>
          <a:p>
            <a:r>
              <a:rPr lang="hu-HU" b="1"/>
              <a:t>IMDB Sentiment Analysis - LSTM</a:t>
            </a:r>
            <a:endParaRPr lang="hu-HU" b="1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07066" y="4050833"/>
            <a:ext cx="7941733" cy="1096899"/>
          </a:xfrm>
        </p:spPr>
        <p:txBody>
          <a:bodyPr>
            <a:normAutofit/>
          </a:bodyPr>
          <a:lstStyle/>
          <a:p>
            <a:pPr algn="ctr"/>
            <a:r>
              <a:rPr lang="hu-HU" sz="2400"/>
              <a:t>~ </a:t>
            </a:r>
            <a:r>
              <a:rPr lang="hu-HU" sz="2200"/>
              <a:t>Mélytanuló rendszerek </a:t>
            </a:r>
            <a:r>
              <a:rPr lang="hu-HU" sz="2400"/>
              <a:t>~</a:t>
            </a:r>
            <a:endParaRPr lang="hu-HU" sz="2200" dirty="0"/>
          </a:p>
        </p:txBody>
      </p:sp>
      <p:sp>
        <p:nvSpPr>
          <p:cNvPr id="6" name="AutoShape 2" descr="Gradle vs Maven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1890130" cy="1890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7" name="AutoShape 4" descr="Gradle vs Maven - Javatpoint"/>
          <p:cNvSpPr>
            <a:spLocks noChangeAspect="1" noChangeArrowheads="1"/>
          </p:cNvSpPr>
          <p:nvPr/>
        </p:nvSpPr>
        <p:spPr bwMode="auto">
          <a:xfrm>
            <a:off x="604461" y="404177"/>
            <a:ext cx="3244331" cy="324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1026" name="Picture 2" descr="Pannon Egyetem">
            <a:extLst>
              <a:ext uri="{FF2B5EF4-FFF2-40B4-BE49-F238E27FC236}">
                <a16:creationId xmlns:a16="http://schemas.microsoft.com/office/drawing/2014/main" id="{5A5B6E78-412B-2855-7D39-0608CCF88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0" y="4518039"/>
            <a:ext cx="5433231" cy="2303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21B47C51-E52A-9931-3BB8-C8FEF1ADB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415" y="4385803"/>
            <a:ext cx="3924123" cy="2472197"/>
          </a:xfrm>
          <a:prstGeom prst="rect">
            <a:avLst/>
          </a:prstGeom>
        </p:spPr>
      </p:pic>
      <p:pic>
        <p:nvPicPr>
          <p:cNvPr id="1030" name="Picture 6" descr="What is Generative AI and How Does it Work?">
            <a:extLst>
              <a:ext uri="{FF2B5EF4-FFF2-40B4-BE49-F238E27FC236}">
                <a16:creationId xmlns:a16="http://schemas.microsoft.com/office/drawing/2014/main" id="{8BDAF6A5-9D4B-CB22-139F-7948C051B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988" y="0"/>
            <a:ext cx="4028536" cy="230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1450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493EE-F01E-09D5-A69A-85E19BD5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89CF75-6F9A-27C0-D805-E5676DE8D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Projekt áttekintés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84E16D-6196-1C90-FAF7-0708B2B16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hu-HU" sz="2400"/>
              <a:t>IMDB filmkritikák sentiment elemzése</a:t>
            </a:r>
          </a:p>
          <a:p>
            <a:pPr algn="just"/>
            <a:r>
              <a:rPr lang="hu-HU" sz="2400"/>
              <a:t>Many-to-One LSTM neurális háló</a:t>
            </a:r>
          </a:p>
          <a:p>
            <a:pPr algn="just"/>
            <a:r>
              <a:rPr lang="hu-HU" sz="2400"/>
              <a:t>Bináris osztályozás: pozitív vs. negatív</a:t>
            </a:r>
          </a:p>
          <a:p>
            <a:pPr algn="just"/>
            <a:r>
              <a:rPr lang="hu-HU" sz="2400"/>
              <a:t>50.000 eredeti adathalmaz mérete</a:t>
            </a:r>
            <a:endParaRPr lang="hu-HU" sz="2400" dirty="0"/>
          </a:p>
          <a:p>
            <a:pPr algn="just"/>
            <a:r>
              <a:rPr lang="hu-HU" sz="2400"/>
              <a:t>49.578 egyedi kritika feldolgozása</a:t>
            </a:r>
          </a:p>
          <a:p>
            <a:pPr algn="just"/>
            <a:r>
              <a:rPr lang="hu-HU" sz="2400"/>
              <a:t>Kiegyensúlyozott adathalmaz: </a:t>
            </a:r>
          </a:p>
          <a:p>
            <a:pPr lvl="1" algn="just"/>
            <a:r>
              <a:rPr lang="hu-HU" sz="2200"/>
              <a:t>50,19 % (pozitív)</a:t>
            </a:r>
          </a:p>
          <a:p>
            <a:pPr lvl="1" algn="just"/>
            <a:r>
              <a:rPr lang="hu-HU" sz="2200"/>
              <a:t>49,81 % (negatív)</a:t>
            </a:r>
            <a:endParaRPr lang="hu-HU" sz="2200" dirty="0"/>
          </a:p>
        </p:txBody>
      </p:sp>
      <p:pic>
        <p:nvPicPr>
          <p:cNvPr id="2050" name="Picture 2" descr="egyetemi logo - Pannon Egyetem - GTK">
            <a:extLst>
              <a:ext uri="{FF2B5EF4-FFF2-40B4-BE49-F238E27FC236}">
                <a16:creationId xmlns:a16="http://schemas.microsoft.com/office/drawing/2014/main" id="{B8FCD7E0-8C8C-F6EC-CDFE-EC894A3FE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EFE3BBA3-98CA-F1AA-7692-85BAFB588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151" y="4562155"/>
            <a:ext cx="5010849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31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BBD32-898C-F1D8-2B7D-9FD5ED6A8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6380CF-C372-2319-9D09-C4B3E8445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Motiváció és problémafelvetés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A6F7376-369C-215E-1AEE-F7FA0B29A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hu-HU" sz="2200"/>
              <a:t>NLP (természetes nyelvi feldolgozás) -&gt;kulcsfontosságú</a:t>
            </a:r>
          </a:p>
          <a:p>
            <a:pPr lvl="1" algn="just"/>
            <a:r>
              <a:rPr lang="hu-HU" sz="2000"/>
              <a:t>Sentiment analysis</a:t>
            </a:r>
          </a:p>
          <a:p>
            <a:pPr algn="just"/>
            <a:r>
              <a:rPr lang="hu-HU" sz="2200"/>
              <a:t>Alkalmazási területek</a:t>
            </a:r>
          </a:p>
          <a:p>
            <a:pPr lvl="1" algn="just"/>
            <a:r>
              <a:rPr lang="hu-HU" sz="2000"/>
              <a:t>Ügyfélvélemények</a:t>
            </a:r>
          </a:p>
          <a:p>
            <a:pPr lvl="1" algn="just"/>
            <a:r>
              <a:rPr lang="hu-HU" sz="2000"/>
              <a:t>Közösségi média</a:t>
            </a:r>
          </a:p>
          <a:p>
            <a:pPr lvl="1" algn="just"/>
            <a:r>
              <a:rPr lang="hu-HU" sz="2000"/>
              <a:t>Termékértékelések</a:t>
            </a:r>
          </a:p>
          <a:p>
            <a:pPr algn="just"/>
            <a:r>
              <a:rPr lang="hu-HU" sz="2200"/>
              <a:t>LSTM előnye:</a:t>
            </a:r>
          </a:p>
          <a:p>
            <a:pPr lvl="1" algn="just"/>
            <a:r>
              <a:rPr lang="hu-HU" sz="2000"/>
              <a:t>Komplex szövegösszefüggések elsajátítása</a:t>
            </a:r>
          </a:p>
          <a:p>
            <a:pPr algn="just"/>
            <a:r>
              <a:rPr lang="hu-HU" sz="2200"/>
              <a:t>Cél: filmkritikák automatikus pozitív / negatív osztályzása </a:t>
            </a:r>
            <a:endParaRPr lang="hu-HU" sz="2200" dirty="0"/>
          </a:p>
        </p:txBody>
      </p:sp>
      <p:pic>
        <p:nvPicPr>
          <p:cNvPr id="2050" name="Picture 2" descr="egyetemi logo - Pannon Egyetem - GTK">
            <a:extLst>
              <a:ext uri="{FF2B5EF4-FFF2-40B4-BE49-F238E27FC236}">
                <a16:creationId xmlns:a16="http://schemas.microsoft.com/office/drawing/2014/main" id="{09ABEFB9-C169-F296-8065-E619BA602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536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>
            <a:extLst>
              <a:ext uri="{FF2B5EF4-FFF2-40B4-BE49-F238E27FC236}">
                <a16:creationId xmlns:a16="http://schemas.microsoft.com/office/drawing/2014/main" id="{A860727D-5A48-262E-A767-3FE4E3182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683" y="4507206"/>
            <a:ext cx="2162477" cy="685896"/>
          </a:xfrm>
          <a:prstGeom prst="rect">
            <a:avLst/>
          </a:prstGeom>
        </p:spPr>
      </p:pic>
      <p:pic>
        <p:nvPicPr>
          <p:cNvPr id="15" name="Picture 2" descr="egyetemi logo - Pannon Egyetem - GTK">
            <a:extLst>
              <a:ext uri="{FF2B5EF4-FFF2-40B4-BE49-F238E27FC236}">
                <a16:creationId xmlns:a16="http://schemas.microsoft.com/office/drawing/2014/main" id="{C7216D0C-ABB2-7754-5C61-9F5D97749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-2452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983F90C1-390D-FCB0-CB6B-5DC827DDA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223" y="2569709"/>
            <a:ext cx="2003051" cy="1937497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D1304C1-884A-4ED0-01A1-3D08839818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30" y="141617"/>
            <a:ext cx="6574766" cy="6574766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5535C586-6765-2442-2B92-43E15D994F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864043">
            <a:off x="2558084" y="5256154"/>
            <a:ext cx="3553321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19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93316-BAC7-CE38-9679-32AB74975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F902AD-8735-3CB4-7B01-AA0144DF0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ADATHALMAZ JELLEMZŐI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AD914F4-8ECA-FD34-949F-7667999D0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7261"/>
            <a:ext cx="8596668" cy="4454102"/>
          </a:xfrm>
        </p:spPr>
        <p:txBody>
          <a:bodyPr>
            <a:normAutofit lnSpcReduction="10000"/>
          </a:bodyPr>
          <a:lstStyle/>
          <a:p>
            <a:pPr algn="just"/>
            <a:r>
              <a:rPr lang="hu-HU" sz="2400"/>
              <a:t>Forrás: Kaggle IMDB Dataset (50K reviews) - angol</a:t>
            </a:r>
          </a:p>
          <a:p>
            <a:pPr algn="just"/>
            <a:r>
              <a:rPr lang="hu-HU" sz="2400"/>
              <a:t>Adattisztitás:</a:t>
            </a:r>
          </a:p>
          <a:p>
            <a:pPr lvl="1" algn="just"/>
            <a:r>
              <a:rPr lang="hu-HU" sz="2200"/>
              <a:t>HTML tagek eltávolítása</a:t>
            </a:r>
          </a:p>
          <a:p>
            <a:pPr lvl="1" algn="just"/>
            <a:r>
              <a:rPr lang="hu-HU" sz="2200"/>
              <a:t>422 duplikátum törlése</a:t>
            </a:r>
          </a:p>
          <a:p>
            <a:pPr lvl="1" algn="just"/>
            <a:r>
              <a:rPr lang="hu-HU" sz="2200"/>
              <a:t>Hiányzó értékek ellenőrzése</a:t>
            </a:r>
          </a:p>
          <a:p>
            <a:pPr algn="just"/>
            <a:r>
              <a:rPr lang="pt-BR" sz="2400"/>
              <a:t>Végső: </a:t>
            </a:r>
            <a:endParaRPr lang="hu-HU" sz="2400"/>
          </a:p>
          <a:p>
            <a:pPr lvl="1" algn="just"/>
            <a:r>
              <a:rPr lang="pt-BR" sz="2200"/>
              <a:t>24,882 pozitív</a:t>
            </a:r>
            <a:endParaRPr lang="hu-HU" sz="2200"/>
          </a:p>
          <a:p>
            <a:pPr lvl="1" algn="just"/>
            <a:r>
              <a:rPr lang="pt-BR" sz="2200"/>
              <a:t>24,696 negatív</a:t>
            </a:r>
            <a:endParaRPr lang="hu-HU" sz="2200" dirty="0"/>
          </a:p>
          <a:p>
            <a:pPr algn="just"/>
            <a:r>
              <a:rPr lang="hu-HU" sz="2400"/>
              <a:t>Átlagos hossz: 229 szó/kritika</a:t>
            </a:r>
          </a:p>
          <a:p>
            <a:pPr algn="just"/>
            <a:r>
              <a:rPr lang="hu-HU" sz="2400"/>
              <a:t>Medián: 172 szó</a:t>
            </a:r>
          </a:p>
          <a:p>
            <a:pPr algn="just"/>
            <a:endParaRPr lang="hu-HU" sz="2200" dirty="0"/>
          </a:p>
        </p:txBody>
      </p:sp>
      <p:pic>
        <p:nvPicPr>
          <p:cNvPr id="2050" name="Picture 2" descr="egyetemi logo - Pannon Egyetem - GTK">
            <a:extLst>
              <a:ext uri="{FF2B5EF4-FFF2-40B4-BE49-F238E27FC236}">
                <a16:creationId xmlns:a16="http://schemas.microsoft.com/office/drawing/2014/main" id="{E4E19610-68DE-AFBA-92A7-7762478AB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4435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66BE2-D1A7-DE95-6A4F-B3AC2C307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egyetemi logo - Pannon Egyetem - GTK">
            <a:extLst>
              <a:ext uri="{FF2B5EF4-FFF2-40B4-BE49-F238E27FC236}">
                <a16:creationId xmlns:a16="http://schemas.microsoft.com/office/drawing/2014/main" id="{76385FFA-30E9-DFF1-26EC-9269AC43D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-2452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FD0BB547-8BC7-C31C-E1FF-C3E13E6C4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173" y="3358161"/>
            <a:ext cx="9690339" cy="3498274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C39FBBE3-F7B1-4DA4-8A35-57440E15C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4522"/>
            <a:ext cx="9118121" cy="3382683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E298D044-F8EE-3A11-78C8-99334788B7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003" y="4141547"/>
            <a:ext cx="1562318" cy="438211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CD587D6D-B540-F3A7-B3AC-1DECB04698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951" y="3221465"/>
            <a:ext cx="876422" cy="1009791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1066C412-5222-821E-D539-61EBB156AB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929" y="5971248"/>
            <a:ext cx="1209844" cy="419158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9EB9E46A-FE4D-5983-D8B8-EF5F6AA214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688" y="5283739"/>
            <a:ext cx="704948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995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611FD-07D3-F7ED-4BD0-2FD39F201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7B6510-C29B-9395-7B52-AF63E78C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SZÖVEG ANALÍZIS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FEB204-B351-4F26-73A6-CE83511DB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78966"/>
            <a:ext cx="8596668" cy="3962396"/>
          </a:xfrm>
        </p:spPr>
        <p:txBody>
          <a:bodyPr>
            <a:normAutofit/>
          </a:bodyPr>
          <a:lstStyle/>
          <a:p>
            <a:pPr algn="just"/>
            <a:r>
              <a:rPr lang="hu-HU" sz="2400"/>
              <a:t>Pozitív kritikák kulcsszavai:</a:t>
            </a:r>
          </a:p>
          <a:p>
            <a:pPr lvl="1" algn="just"/>
            <a:r>
              <a:rPr lang="hu-HU" sz="2400"/>
              <a:t>„great”, „best”, „love”, „excellent”</a:t>
            </a:r>
          </a:p>
          <a:p>
            <a:pPr algn="just"/>
            <a:r>
              <a:rPr lang="hu-HU" sz="2400"/>
              <a:t>Negatív kritikák kulcsszavai</a:t>
            </a:r>
            <a:r>
              <a:rPr lang="pt-BR" sz="2400"/>
              <a:t>: </a:t>
            </a:r>
            <a:endParaRPr lang="hu-HU" sz="2400"/>
          </a:p>
          <a:p>
            <a:pPr lvl="1" algn="just"/>
            <a:r>
              <a:rPr lang="hu-HU" sz="2200"/>
              <a:t>„bad”, „worst”, „waste”, „boring”</a:t>
            </a:r>
            <a:endParaRPr lang="hu-HU" sz="2200" dirty="0"/>
          </a:p>
          <a:p>
            <a:pPr algn="just"/>
            <a:r>
              <a:rPr lang="hu-HU" sz="2400"/>
              <a:t>Nincs korreláció hossz és sentiment között</a:t>
            </a:r>
          </a:p>
          <a:p>
            <a:pPr algn="just"/>
            <a:r>
              <a:rPr lang="hu-HU" sz="2400"/>
              <a:t>Természetes nyelvi mintázat (Zipf törvény)</a:t>
            </a:r>
            <a:endParaRPr lang="hu-HU" sz="2200" dirty="0"/>
          </a:p>
        </p:txBody>
      </p:sp>
      <p:pic>
        <p:nvPicPr>
          <p:cNvPr id="2050" name="Picture 2" descr="egyetemi logo - Pannon Egyetem - GTK">
            <a:extLst>
              <a:ext uri="{FF2B5EF4-FFF2-40B4-BE49-F238E27FC236}">
                <a16:creationId xmlns:a16="http://schemas.microsoft.com/office/drawing/2014/main" id="{2E19473D-E380-1EC4-7EB3-58469BBC9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123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4443F-9F0E-08A0-BBE6-AB15B0C7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egyetemi logo - Pannon Egyetem - GTK">
            <a:extLst>
              <a:ext uri="{FF2B5EF4-FFF2-40B4-BE49-F238E27FC236}">
                <a16:creationId xmlns:a16="http://schemas.microsoft.com/office/drawing/2014/main" id="{7767070B-9E5B-F898-3B47-2BE7FA6E2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-2452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9BAB999A-3E63-1C5D-1A78-CE00BCA69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8189"/>
            <a:ext cx="4909016" cy="2639683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457463F-6ECB-CC21-8B68-94D5D5298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016" y="254952"/>
            <a:ext cx="4909016" cy="2640261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D9BAE872-2A21-D500-3AE4-EA9DA89F52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61109"/>
            <a:ext cx="4861263" cy="3232194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DC86BCC2-8648-4DB3-DE8F-87FD786BA9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0615" y="3161109"/>
            <a:ext cx="4990311" cy="330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88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C51B8-8B73-AFFA-95C2-1EB35B05D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771192-74DF-9C6D-7434-948E1ED26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ADATELŐKÉSZÍTÉS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46784DC-624A-646E-16E5-D0DDEA593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78966"/>
            <a:ext cx="8596668" cy="3962396"/>
          </a:xfrm>
        </p:spPr>
        <p:txBody>
          <a:bodyPr>
            <a:normAutofit/>
          </a:bodyPr>
          <a:lstStyle/>
          <a:p>
            <a:pPr algn="just"/>
            <a:r>
              <a:rPr lang="hu-HU" sz="2400"/>
              <a:t>Tokenizáció: Keras Tokenizer</a:t>
            </a:r>
          </a:p>
          <a:p>
            <a:pPr algn="just"/>
            <a:r>
              <a:rPr lang="en-US" sz="2400"/>
              <a:t>Vocabulary size: 10</a:t>
            </a:r>
            <a:r>
              <a:rPr lang="hu-HU" sz="2400"/>
              <a:t>.</a:t>
            </a:r>
            <a:r>
              <a:rPr lang="en-US" sz="2400"/>
              <a:t>000 leggyakoribb szó</a:t>
            </a:r>
            <a:endParaRPr lang="hu-HU" sz="2400"/>
          </a:p>
          <a:p>
            <a:pPr algn="just"/>
            <a:r>
              <a:rPr lang="hu-HU" sz="2400"/>
              <a:t>Padding: 200 token/szekvencia</a:t>
            </a:r>
          </a:p>
          <a:p>
            <a:pPr algn="just"/>
            <a:r>
              <a:rPr lang="sv-SE" sz="2400"/>
              <a:t>58</a:t>
            </a:r>
            <a:r>
              <a:rPr lang="hu-HU" sz="2400"/>
              <a:t>,</a:t>
            </a:r>
            <a:r>
              <a:rPr lang="sv-SE" sz="2400"/>
              <a:t>9</a:t>
            </a:r>
            <a:r>
              <a:rPr lang="hu-HU" sz="2400"/>
              <a:t> </a:t>
            </a:r>
            <a:r>
              <a:rPr lang="sv-SE" sz="2400"/>
              <a:t>% padding igényelt (rövid kritikák)</a:t>
            </a:r>
            <a:endParaRPr lang="hu-HU" sz="2400"/>
          </a:p>
          <a:p>
            <a:pPr algn="just"/>
            <a:r>
              <a:rPr lang="hu-HU" sz="2400"/>
              <a:t>40,8 % truncation igényelt (hosszú kritikák)</a:t>
            </a:r>
          </a:p>
          <a:p>
            <a:pPr algn="just"/>
            <a:r>
              <a:rPr lang="hu-HU" sz="2400"/>
              <a:t>Train-validation split reprezentatív</a:t>
            </a:r>
          </a:p>
        </p:txBody>
      </p:sp>
      <p:pic>
        <p:nvPicPr>
          <p:cNvPr id="2050" name="Picture 2" descr="egyetemi logo - Pannon Egyetem - GTK">
            <a:extLst>
              <a:ext uri="{FF2B5EF4-FFF2-40B4-BE49-F238E27FC236}">
                <a16:creationId xmlns:a16="http://schemas.microsoft.com/office/drawing/2014/main" id="{70895CE4-3BD3-8F12-D00D-207EF0950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FDC0A73-A07F-60CC-E2CD-4899186AC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690" y="5317704"/>
            <a:ext cx="5591955" cy="46679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02D3301D-A5F8-E6FD-CBAC-3F95E28C6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3364" y="5750638"/>
            <a:ext cx="5772956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609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95C06-020E-F8AC-700D-E78EA87BF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egyetemi logo - Pannon Egyetem - GTK">
            <a:extLst>
              <a:ext uri="{FF2B5EF4-FFF2-40B4-BE49-F238E27FC236}">
                <a16:creationId xmlns:a16="http://schemas.microsoft.com/office/drawing/2014/main" id="{FA6D5AFE-C3BD-7732-4F77-0EE7F1196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-2452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3515671A-0919-7E0B-B766-D09C18993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98"/>
            <a:ext cx="8557404" cy="3173594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0FB0308C-B62F-2B1A-7A68-E08DBA1B5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38" y="3448527"/>
            <a:ext cx="9198634" cy="340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286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14EDA-9EDE-2368-F566-684E50FC1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19135B-2C62-B6CA-B0ED-807B7E362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MODELL ARCHITEKTÚRA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D7B5FF-8BF8-9701-8247-6DDD2503E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78966"/>
            <a:ext cx="8596668" cy="396239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 b="1"/>
              <a:t>Embedding Layer:</a:t>
            </a:r>
            <a:r>
              <a:rPr lang="en-US" sz="2400"/>
              <a:t> 10,000 → 128 dimenzió</a:t>
            </a:r>
            <a:endParaRPr lang="hu-HU" sz="2400"/>
          </a:p>
          <a:p>
            <a:pPr algn="just"/>
            <a:r>
              <a:rPr lang="hu-HU" sz="2400" b="1"/>
              <a:t>LSTM Layer:</a:t>
            </a:r>
            <a:r>
              <a:rPr lang="hu-HU" sz="2400"/>
              <a:t> 128 units</a:t>
            </a:r>
          </a:p>
          <a:p>
            <a:pPr lvl="1" algn="just"/>
            <a:r>
              <a:rPr lang="hu-HU" sz="2200"/>
              <a:t>Dropout: 0,5</a:t>
            </a:r>
          </a:p>
          <a:p>
            <a:pPr lvl="1" algn="just"/>
            <a:r>
              <a:rPr lang="hu-HU" sz="2400"/>
              <a:t>Recurrent dropout: 0,2</a:t>
            </a:r>
            <a:endParaRPr lang="hu-HU" sz="2200"/>
          </a:p>
          <a:p>
            <a:pPr algn="just"/>
            <a:r>
              <a:rPr lang="hu-HU" sz="2400" b="1"/>
              <a:t>Dropout Layer:</a:t>
            </a:r>
            <a:r>
              <a:rPr lang="hu-HU" sz="2400"/>
              <a:t> 0,5</a:t>
            </a:r>
          </a:p>
          <a:p>
            <a:pPr algn="just"/>
            <a:r>
              <a:rPr lang="hu-HU" sz="2400" b="1"/>
              <a:t>Dense Output:</a:t>
            </a:r>
            <a:r>
              <a:rPr lang="hu-HU" sz="2400"/>
              <a:t> Sigmoid aktiváció</a:t>
            </a:r>
          </a:p>
          <a:p>
            <a:pPr algn="just"/>
            <a:r>
              <a:rPr lang="hu-HU" sz="2400"/>
              <a:t>Összesen: </a:t>
            </a:r>
            <a:r>
              <a:rPr lang="hu-HU" sz="2400" b="1"/>
              <a:t>1.411.713 paraméter</a:t>
            </a:r>
          </a:p>
          <a:p>
            <a:pPr algn="just"/>
            <a:r>
              <a:rPr lang="hu-HU" sz="2400"/>
              <a:t>Optimizer: Adam (LR: 0,001)</a:t>
            </a:r>
          </a:p>
          <a:p>
            <a:pPr algn="just"/>
            <a:r>
              <a:rPr lang="hu-HU" sz="2400"/>
              <a:t>Loss: Binary Crossentropy</a:t>
            </a:r>
            <a:endParaRPr lang="hu-HU" sz="2400" b="1"/>
          </a:p>
          <a:p>
            <a:pPr algn="just"/>
            <a:endParaRPr lang="hu-HU" sz="2400"/>
          </a:p>
        </p:txBody>
      </p:sp>
      <p:pic>
        <p:nvPicPr>
          <p:cNvPr id="2050" name="Picture 2" descr="egyetemi logo - Pannon Egyetem - GTK">
            <a:extLst>
              <a:ext uri="{FF2B5EF4-FFF2-40B4-BE49-F238E27FC236}">
                <a16:creationId xmlns:a16="http://schemas.microsoft.com/office/drawing/2014/main" id="{C882297E-7B59-E1E2-7BB4-64491374F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3176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28330-8F0C-878F-F80C-0C108B625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0C3016-7E16-E1B8-D58E-43D2DE7E7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TRAINING FOLYAMAT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6C3ED2-76FE-B978-E87C-AB2FAA96B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78966"/>
            <a:ext cx="8596668" cy="396239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/>
              <a:t>10 epoch (Early Stopping: 7. epoch)</a:t>
            </a:r>
            <a:endParaRPr lang="hu-HU" sz="2400"/>
          </a:p>
          <a:p>
            <a:pPr algn="just"/>
            <a:r>
              <a:rPr lang="hu-HU" sz="2400"/>
              <a:t>Callbacks:</a:t>
            </a:r>
          </a:p>
          <a:p>
            <a:pPr lvl="1" algn="just"/>
            <a:r>
              <a:rPr lang="hu-HU" sz="2200"/>
              <a:t>EarlyStopping (patience=3)</a:t>
            </a:r>
          </a:p>
          <a:p>
            <a:pPr lvl="1" algn="just"/>
            <a:r>
              <a:rPr lang="hu-HU" sz="2400"/>
              <a:t>ReduceLROnPlateau</a:t>
            </a:r>
          </a:p>
          <a:p>
            <a:pPr lvl="1" algn="just"/>
            <a:r>
              <a:rPr lang="hu-HU" sz="2400"/>
              <a:t>ModelCheckpoint</a:t>
            </a:r>
            <a:endParaRPr lang="hu-HU" sz="2200"/>
          </a:p>
          <a:p>
            <a:pPr algn="just"/>
            <a:r>
              <a:rPr lang="hu-HU" sz="2400"/>
              <a:t>Training accuracy: 96 %</a:t>
            </a:r>
          </a:p>
          <a:p>
            <a:pPr algn="just"/>
            <a:r>
              <a:rPr lang="hu-HU" sz="2400"/>
              <a:t>Validation accuracy: </a:t>
            </a:r>
            <a:r>
              <a:rPr lang="hu-HU" sz="2400" b="1"/>
              <a:t>87,96 %</a:t>
            </a:r>
          </a:p>
          <a:p>
            <a:pPr algn="just"/>
            <a:r>
              <a:rPr lang="hu-HU" sz="2400"/>
              <a:t>Enyhe overfitting (8 % gap)</a:t>
            </a:r>
          </a:p>
          <a:p>
            <a:pPr algn="just"/>
            <a:r>
              <a:rPr lang="hu-HU" sz="2400"/>
              <a:t>Best weights: 6. epoch</a:t>
            </a:r>
          </a:p>
        </p:txBody>
      </p:sp>
      <p:pic>
        <p:nvPicPr>
          <p:cNvPr id="2050" name="Picture 2" descr="egyetemi logo - Pannon Egyetem - GTK">
            <a:extLst>
              <a:ext uri="{FF2B5EF4-FFF2-40B4-BE49-F238E27FC236}">
                <a16:creationId xmlns:a16="http://schemas.microsoft.com/office/drawing/2014/main" id="{E156E694-FC14-FBBC-8671-276C38A28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7553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56131-C4DF-9750-7120-1E28BAE85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egyetemi logo - Pannon Egyetem - GTK">
            <a:extLst>
              <a:ext uri="{FF2B5EF4-FFF2-40B4-BE49-F238E27FC236}">
                <a16:creationId xmlns:a16="http://schemas.microsoft.com/office/drawing/2014/main" id="{12CAECD0-6F41-52DE-E221-84413DBB5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-2452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9FDAED51-25D0-A8C8-4CF0-2C312378F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70" y="2118603"/>
            <a:ext cx="10389079" cy="384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38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3CFF9-4FFD-6997-4356-A8018C01C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8B1FDC-DF88-12D7-E62F-3E1550E18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EREDMÉNYEK I.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8EC78B-D919-46DE-4E5B-7ECCC9F9A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9623"/>
            <a:ext cx="8596668" cy="4531739"/>
          </a:xfrm>
        </p:spPr>
        <p:txBody>
          <a:bodyPr>
            <a:normAutofit/>
          </a:bodyPr>
          <a:lstStyle/>
          <a:p>
            <a:pPr algn="just"/>
            <a:r>
              <a:rPr lang="hu-HU" sz="2400"/>
              <a:t>Validation Accuracy: 87,96 %</a:t>
            </a:r>
          </a:p>
          <a:p>
            <a:pPr algn="just"/>
            <a:r>
              <a:rPr lang="hu-HU" sz="2400"/>
              <a:t>Confusion Matrix:</a:t>
            </a:r>
          </a:p>
          <a:p>
            <a:pPr lvl="1" algn="just"/>
            <a:r>
              <a:rPr lang="hu-HU" sz="2200"/>
              <a:t>True Negative: 87,96 %</a:t>
            </a:r>
          </a:p>
          <a:p>
            <a:pPr lvl="1" algn="just"/>
            <a:r>
              <a:rPr lang="hu-HU" sz="2400"/>
              <a:t>True Positive: 88,08 %</a:t>
            </a:r>
          </a:p>
          <a:p>
            <a:pPr lvl="1" algn="just"/>
            <a:r>
              <a:rPr lang="hu-HU" sz="2400"/>
              <a:t>Kiegyensúlyozott hibák (FP ≈ FN)</a:t>
            </a:r>
            <a:endParaRPr lang="hu-HU" sz="2200"/>
          </a:p>
          <a:p>
            <a:pPr algn="just"/>
            <a:r>
              <a:rPr lang="hu-HU" sz="2400"/>
              <a:t>Classification Report:</a:t>
            </a:r>
          </a:p>
          <a:p>
            <a:pPr lvl="1" algn="just"/>
            <a:r>
              <a:rPr lang="hu-HU" sz="2200"/>
              <a:t>Precision: 0,88</a:t>
            </a:r>
          </a:p>
          <a:p>
            <a:pPr lvl="1" algn="just"/>
            <a:r>
              <a:rPr lang="hu-HU" sz="2400"/>
              <a:t>Recall: 0,88</a:t>
            </a:r>
          </a:p>
          <a:p>
            <a:pPr lvl="1" algn="just"/>
            <a:r>
              <a:rPr lang="hu-HU" sz="2400"/>
              <a:t>F1-score: 0,88</a:t>
            </a:r>
            <a:endParaRPr lang="hu-HU" sz="2200"/>
          </a:p>
        </p:txBody>
      </p:sp>
      <p:pic>
        <p:nvPicPr>
          <p:cNvPr id="2050" name="Picture 2" descr="egyetemi logo - Pannon Egyetem - GTK">
            <a:extLst>
              <a:ext uri="{FF2B5EF4-FFF2-40B4-BE49-F238E27FC236}">
                <a16:creationId xmlns:a16="http://schemas.microsoft.com/office/drawing/2014/main" id="{B77D4E92-415F-70C0-A204-471A60A5E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1154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F2CA1-18A8-21AE-9C2E-54B92751D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egyetemi logo - Pannon Egyetem - GTK">
            <a:extLst>
              <a:ext uri="{FF2B5EF4-FFF2-40B4-BE49-F238E27FC236}">
                <a16:creationId xmlns:a16="http://schemas.microsoft.com/office/drawing/2014/main" id="{2A0F749B-3AED-1E97-553D-FA12C7001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-2452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645C71BC-4E4C-D730-9592-FD7021405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191" y="435393"/>
            <a:ext cx="7766097" cy="598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303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E313B-3CB8-00CD-A6B5-2937DEAD1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C5FAFF-4646-D68D-2F8A-58B21B8C7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EREDMÉNYEK II. ÉS KÖVETKEZTETÉSEK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CB51260-FFFA-E651-32C8-19573A3DB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09955"/>
            <a:ext cx="8596668" cy="4031407"/>
          </a:xfrm>
        </p:spPr>
        <p:txBody>
          <a:bodyPr>
            <a:normAutofit lnSpcReduction="10000"/>
          </a:bodyPr>
          <a:lstStyle/>
          <a:p>
            <a:pPr algn="just"/>
            <a:r>
              <a:rPr lang="hu-HU" sz="2400" b="1"/>
              <a:t>AUC Score: 94,71 %</a:t>
            </a:r>
            <a:r>
              <a:rPr lang="hu-HU" sz="2400"/>
              <a:t> (kiváló)</a:t>
            </a:r>
          </a:p>
          <a:p>
            <a:pPr algn="just"/>
            <a:r>
              <a:rPr lang="hu-HU" sz="2400"/>
              <a:t>Enyhe overfitting (8% gap) – elfogadható</a:t>
            </a:r>
          </a:p>
          <a:p>
            <a:pPr algn="just"/>
            <a:r>
              <a:rPr lang="hu-HU" sz="2400"/>
              <a:t>Összegzés: </a:t>
            </a:r>
            <a:r>
              <a:rPr lang="hu-HU" sz="2400" b="1"/>
              <a:t>87,96 % accuracy</a:t>
            </a:r>
          </a:p>
          <a:p>
            <a:pPr algn="just"/>
            <a:r>
              <a:rPr lang="hu-HU" sz="2400"/>
              <a:t>ROC görbe &gt;&gt; random classifier</a:t>
            </a:r>
          </a:p>
          <a:p>
            <a:pPr algn="just"/>
            <a:r>
              <a:rPr lang="hu-HU" sz="2400"/>
              <a:t>Nincs osztály bias</a:t>
            </a:r>
          </a:p>
          <a:p>
            <a:pPr algn="just"/>
            <a:r>
              <a:rPr lang="hu-HU" sz="2400"/>
              <a:t>Továbbfejlesztési lehetőségek:</a:t>
            </a:r>
          </a:p>
          <a:p>
            <a:pPr lvl="1" algn="just"/>
            <a:r>
              <a:rPr lang="hu-HU" sz="2200"/>
              <a:t>Bidirectional LSTM</a:t>
            </a:r>
          </a:p>
          <a:p>
            <a:pPr lvl="1" algn="just"/>
            <a:r>
              <a:rPr lang="hu-HU" sz="2000"/>
              <a:t>Pretrained embeddings (BERT)</a:t>
            </a:r>
          </a:p>
          <a:p>
            <a:pPr lvl="1" algn="just"/>
            <a:r>
              <a:rPr lang="hu-HU" sz="2000"/>
              <a:t>Ensemble módszerek</a:t>
            </a:r>
          </a:p>
        </p:txBody>
      </p:sp>
      <p:pic>
        <p:nvPicPr>
          <p:cNvPr id="2050" name="Picture 2" descr="egyetemi logo - Pannon Egyetem - GTK">
            <a:extLst>
              <a:ext uri="{FF2B5EF4-FFF2-40B4-BE49-F238E27FC236}">
                <a16:creationId xmlns:a16="http://schemas.microsoft.com/office/drawing/2014/main" id="{4CFA2AC2-7CE4-E8FB-AE46-C96B567CA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640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91C60-86BB-31C9-185E-5C9D024D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egyetemi logo - Pannon Egyetem - GTK">
            <a:extLst>
              <a:ext uri="{FF2B5EF4-FFF2-40B4-BE49-F238E27FC236}">
                <a16:creationId xmlns:a16="http://schemas.microsoft.com/office/drawing/2014/main" id="{0E67F497-3EBA-04E1-3769-13BEC91ED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-2452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D50E01A8-FE0F-45C5-1256-7439E8F03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434" y="623170"/>
            <a:ext cx="7802717" cy="582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85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hu-HU" dirty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4" y="1259457"/>
            <a:ext cx="8596668" cy="4781905"/>
          </a:xfrm>
        </p:spPr>
        <p:txBody>
          <a:bodyPr>
            <a:normAutofit/>
          </a:bodyPr>
          <a:lstStyle/>
          <a:p>
            <a:pPr algn="just"/>
            <a:r>
              <a:rPr lang="hu-HU" sz="2400"/>
              <a:t>Forráskód:</a:t>
            </a:r>
            <a:endParaRPr lang="hu-HU" sz="2400" dirty="0"/>
          </a:p>
          <a:p>
            <a:pPr marL="0" indent="0" algn="just">
              <a:buNone/>
            </a:pPr>
            <a:endParaRPr lang="hu-HU" sz="2400" dirty="0"/>
          </a:p>
          <a:p>
            <a:pPr marL="0" indent="0" algn="ctr">
              <a:buNone/>
            </a:pPr>
            <a:r>
              <a:rPr lang="hu-HU" sz="2400">
                <a:hlinkClick r:id="rId2"/>
              </a:rPr>
              <a:t>https://github.com/Csaba79-coder/imdb-sentiment-lstm</a:t>
            </a:r>
            <a:endParaRPr lang="hu-HU" sz="2400"/>
          </a:p>
          <a:p>
            <a:pPr algn="just"/>
            <a:endParaRPr lang="hu-HU" sz="2400"/>
          </a:p>
          <a:p>
            <a:pPr algn="just"/>
            <a:r>
              <a:rPr lang="hu-HU" sz="2400"/>
              <a:t>Adathalmaz forrása:</a:t>
            </a:r>
            <a:r>
              <a:rPr lang="hu-HU" sz="200"/>
              <a:t>(</a:t>
            </a:r>
          </a:p>
          <a:p>
            <a:pPr marL="0" indent="0" algn="ctr">
              <a:buNone/>
            </a:pPr>
            <a:r>
              <a:rPr lang="hu-HU" sz="2400" i="1"/>
              <a:t>(utolsó megtekintés dátuma 2025.10.23.)</a:t>
            </a:r>
          </a:p>
          <a:p>
            <a:pPr marL="0" indent="0" algn="ctr">
              <a:buNone/>
            </a:pPr>
            <a:endParaRPr lang="hu-HU" sz="2400" i="1" dirty="0"/>
          </a:p>
          <a:p>
            <a:pPr marL="0" indent="0" algn="ctr">
              <a:buNone/>
            </a:pPr>
            <a:r>
              <a:rPr lang="hu-HU" sz="2400">
                <a:hlinkClick r:id="rId3"/>
              </a:rPr>
              <a:t>https://www.kaggle.com/datasets/lakshmi25npathi/imdb-dataset-of-50k-movie-reviews</a:t>
            </a:r>
            <a:endParaRPr lang="hu-HU" sz="2400"/>
          </a:p>
          <a:p>
            <a:pPr marL="0" indent="0" algn="ctr">
              <a:buNone/>
            </a:pPr>
            <a:endParaRPr lang="hu-HU" sz="2400" dirty="0"/>
          </a:p>
        </p:txBody>
      </p:sp>
      <p:pic>
        <p:nvPicPr>
          <p:cNvPr id="2050" name="Picture 2" descr="egyetemi logo - Pannon Egyetem - GTK">
            <a:extLst>
              <a:ext uri="{FF2B5EF4-FFF2-40B4-BE49-F238E27FC236}">
                <a16:creationId xmlns:a16="http://schemas.microsoft.com/office/drawing/2014/main" id="{C7216D0C-ABB2-7754-5C61-9F5D97749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559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/>
              <a:t>Készítette</a:t>
            </a:r>
            <a:r>
              <a:rPr lang="hu-HU" dirty="0"/>
              <a:t>:</a:t>
            </a:r>
            <a:endParaRPr lang="hu-HU" b="1" i="1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7334" y="2143125"/>
            <a:ext cx="8596668" cy="3634219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hu-HU" sz="2900" dirty="0"/>
          </a:p>
          <a:p>
            <a:pPr marL="0" indent="0">
              <a:buNone/>
            </a:pPr>
            <a:endParaRPr lang="hu-HU" sz="12000" dirty="0">
              <a:latin typeface="Blackadder ITC" panose="04020505051007020D02" pitchFamily="82" charset="0"/>
            </a:endParaRPr>
          </a:p>
          <a:p>
            <a:pPr marL="0" indent="0">
              <a:buNone/>
            </a:pPr>
            <a:r>
              <a:rPr lang="hu-HU" sz="12000">
                <a:latin typeface="Blackadder ITC" panose="04020505051007020D02" pitchFamily="82" charset="0"/>
              </a:rPr>
              <a:t>Vadász </a:t>
            </a:r>
            <a:r>
              <a:rPr lang="hu-HU" sz="12000" dirty="0">
                <a:latin typeface="Blackadder ITC" panose="04020505051007020D02" pitchFamily="82" charset="0"/>
              </a:rPr>
              <a:t>Csaba</a:t>
            </a:r>
          </a:p>
          <a:p>
            <a:pPr marL="0" indent="0">
              <a:buNone/>
            </a:pPr>
            <a:endParaRPr lang="hu-HU" sz="6400"/>
          </a:p>
          <a:p>
            <a:pPr marL="0" indent="0">
              <a:buNone/>
            </a:pPr>
            <a:endParaRPr lang="hu-HU" sz="6400" dirty="0"/>
          </a:p>
          <a:p>
            <a:pPr marL="0" indent="0">
              <a:buNone/>
            </a:pPr>
            <a:r>
              <a:rPr lang="hu-HU" sz="6400" dirty="0"/>
              <a:t>Programtervező informatikus mesterképzés</a:t>
            </a:r>
          </a:p>
          <a:p>
            <a:pPr marL="0" indent="0">
              <a:buNone/>
            </a:pPr>
            <a:r>
              <a:rPr lang="hu-HU" sz="6400" dirty="0"/>
              <a:t>Levelező tagozat</a:t>
            </a:r>
          </a:p>
          <a:p>
            <a:pPr marL="0" indent="0">
              <a:buNone/>
            </a:pPr>
            <a:r>
              <a:rPr lang="hu-HU" sz="6600"/>
              <a:t>2025/2026. </a:t>
            </a:r>
            <a:r>
              <a:rPr lang="hu-HU" sz="6600" dirty="0"/>
              <a:t>I. (őszi) félév</a:t>
            </a:r>
            <a:endParaRPr lang="hu-HU" sz="6400" dirty="0"/>
          </a:p>
          <a:p>
            <a:pPr marL="0" indent="0">
              <a:buNone/>
            </a:pPr>
            <a:endParaRPr lang="hu-HU" sz="6400" dirty="0"/>
          </a:p>
          <a:p>
            <a:pPr marL="0" indent="0">
              <a:buNone/>
            </a:pPr>
            <a:endParaRPr lang="hu-HU" sz="6400" dirty="0"/>
          </a:p>
        </p:txBody>
      </p:sp>
      <p:pic>
        <p:nvPicPr>
          <p:cNvPr id="4" name="Picture 2" descr="egyetemi logo - Pannon Egyetem - GTK">
            <a:extLst>
              <a:ext uri="{FF2B5EF4-FFF2-40B4-BE49-F238E27FC236}">
                <a16:creationId xmlns:a16="http://schemas.microsoft.com/office/drawing/2014/main" id="{B5EEC3C3-0B43-E9AB-3345-4A4837269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Funny Question And Answer PNG Transparent Images Free Download | Vector  Files | Pngtree">
            <a:extLst>
              <a:ext uri="{FF2B5EF4-FFF2-40B4-BE49-F238E27FC236}">
                <a16:creationId xmlns:a16="http://schemas.microsoft.com/office/drawing/2014/main" id="{B985817A-6DA4-7AAB-F40A-201394AA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681" y="124543"/>
            <a:ext cx="5003321" cy="500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322519"/>
      </p:ext>
    </p:extLst>
  </p:cSld>
  <p:clrMapOvr>
    <a:masterClrMapping/>
  </p:clrMapOvr>
</p:sld>
</file>

<file path=ppt/theme/theme1.xml><?xml version="1.0" encoding="utf-8"?>
<a:theme xmlns:a="http://schemas.openxmlformats.org/drawingml/2006/main" name="Fazet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2700</TotalTime>
  <Words>437</Words>
  <Application>Microsoft Office PowerPoint</Application>
  <PresentationFormat>Szélesvásznú</PresentationFormat>
  <Paragraphs>104</Paragraphs>
  <Slides>19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4" baseType="lpstr">
      <vt:lpstr>Arial</vt:lpstr>
      <vt:lpstr>Blackadder ITC</vt:lpstr>
      <vt:lpstr>Trebuchet MS</vt:lpstr>
      <vt:lpstr>Wingdings 3</vt:lpstr>
      <vt:lpstr>Fazetta</vt:lpstr>
      <vt:lpstr>IMDB Sentiment Analysis - LSTM</vt:lpstr>
      <vt:lpstr>Projekt áttekintés</vt:lpstr>
      <vt:lpstr>Motiváció és problémafelvetés</vt:lpstr>
      <vt:lpstr>PowerPoint-bemutató</vt:lpstr>
      <vt:lpstr>ADATHALMAZ JELLEMZŐI</vt:lpstr>
      <vt:lpstr>PowerPoint-bemutató</vt:lpstr>
      <vt:lpstr>SZÖVEG ANALÍZIS</vt:lpstr>
      <vt:lpstr>PowerPoint-bemutató</vt:lpstr>
      <vt:lpstr>ADATELŐKÉSZÍTÉS</vt:lpstr>
      <vt:lpstr>PowerPoint-bemutató</vt:lpstr>
      <vt:lpstr>MODELL ARCHITEKTÚRA</vt:lpstr>
      <vt:lpstr>TRAINING FOLYAMAT</vt:lpstr>
      <vt:lpstr>PowerPoint-bemutató</vt:lpstr>
      <vt:lpstr>EREDMÉNYEK I.</vt:lpstr>
      <vt:lpstr>PowerPoint-bemutató</vt:lpstr>
      <vt:lpstr>EREDMÉNYEK II. ÉS KÖVETKEZTETÉSEK</vt:lpstr>
      <vt:lpstr>PowerPoint-bemutató</vt:lpstr>
      <vt:lpstr> </vt:lpstr>
      <vt:lpstr>Készítette: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Datamanipultion &amp; structure</dc:title>
  <dc:creator>Computer</dc:creator>
  <cp:lastModifiedBy>Csaba Vadász</cp:lastModifiedBy>
  <cp:revision>108</cp:revision>
  <dcterms:created xsi:type="dcterms:W3CDTF">2022-04-29T06:31:55Z</dcterms:created>
  <dcterms:modified xsi:type="dcterms:W3CDTF">2025-11-25T11:14:24Z</dcterms:modified>
</cp:coreProperties>
</file>